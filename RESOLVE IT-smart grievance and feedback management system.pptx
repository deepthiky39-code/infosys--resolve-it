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tique Olive Bold" charset="1" panose="020B0703020204030204"/>
      <p:regular r:id="rId16"/>
    </p:embeddedFont>
    <p:embeddedFont>
      <p:font typeface="Farro Bold" charset="1" panose="00000800000000000000"/>
      <p:regular r:id="rId17"/>
    </p:embeddedFont>
    <p:embeddedFont>
      <p:font typeface="Farro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8953500"/>
            <a:chOff x="0" y="0"/>
            <a:chExt cx="461340" cy="5998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340" cy="599805"/>
            </a:xfrm>
            <a:custGeom>
              <a:avLst/>
              <a:gdLst/>
              <a:ahLst/>
              <a:cxnLst/>
              <a:rect r="r" b="b" t="t" l="l"/>
              <a:pathLst>
                <a:path h="599805" w="461340">
                  <a:moveTo>
                    <a:pt x="56210" y="0"/>
                  </a:moveTo>
                  <a:lnTo>
                    <a:pt x="405129" y="0"/>
                  </a:lnTo>
                  <a:cubicBezTo>
                    <a:pt x="436173" y="0"/>
                    <a:pt x="461340" y="25166"/>
                    <a:pt x="461340" y="56210"/>
                  </a:cubicBezTo>
                  <a:lnTo>
                    <a:pt x="461340" y="543595"/>
                  </a:lnTo>
                  <a:cubicBezTo>
                    <a:pt x="461340" y="574639"/>
                    <a:pt x="436173" y="599805"/>
                    <a:pt x="405129" y="599805"/>
                  </a:cubicBezTo>
                  <a:lnTo>
                    <a:pt x="56210" y="599805"/>
                  </a:lnTo>
                  <a:cubicBezTo>
                    <a:pt x="25166" y="599805"/>
                    <a:pt x="0" y="574639"/>
                    <a:pt x="0" y="543595"/>
                  </a:cubicBezTo>
                  <a:lnTo>
                    <a:pt x="0" y="56210"/>
                  </a:lnTo>
                  <a:cubicBezTo>
                    <a:pt x="0" y="25166"/>
                    <a:pt x="25166" y="0"/>
                    <a:pt x="5621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8396159" y="9220200"/>
            <a:ext cx="5448300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</a:pPr>
            <a:r>
              <a:rPr lang="en-US" b="true" sz="3600">
                <a:solidFill>
                  <a:srgbClr val="F2F5F7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BY DEEPTHI K 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96159" y="1600972"/>
            <a:ext cx="8863141" cy="305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8625" spc="-172" b="true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RESOLVE IT-</a:t>
            </a:r>
          </a:p>
          <a:p>
            <a:pPr algn="l" marL="0" indent="0" lvl="0">
              <a:lnSpc>
                <a:spcPts val="5125"/>
              </a:lnSpc>
            </a:pPr>
            <a:r>
              <a:rPr lang="en-US" b="true" sz="5125" spc="-10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Public transport </a:t>
            </a:r>
            <a:r>
              <a:rPr lang="en-US" b="true" sz="5125" spc="-10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grievance and feedback management system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049500" y="6385657"/>
            <a:ext cx="2571750" cy="3234593"/>
            <a:chOff x="0" y="0"/>
            <a:chExt cx="3429000" cy="43127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70206" cy="3270206"/>
            </a:xfrm>
            <a:custGeom>
              <a:avLst/>
              <a:gdLst/>
              <a:ahLst/>
              <a:cxnLst/>
              <a:rect r="r" b="b" t="t" l="l"/>
              <a:pathLst>
                <a:path h="3270206" w="3270206">
                  <a:moveTo>
                    <a:pt x="0" y="0"/>
                  </a:moveTo>
                  <a:lnTo>
                    <a:pt x="3270206" y="0"/>
                  </a:lnTo>
                  <a:lnTo>
                    <a:pt x="3270206" y="3270206"/>
                  </a:lnTo>
                  <a:lnTo>
                    <a:pt x="0" y="3270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19367" y="2043576"/>
              <a:ext cx="2309633" cy="2269214"/>
            </a:xfrm>
            <a:custGeom>
              <a:avLst/>
              <a:gdLst/>
              <a:ahLst/>
              <a:cxnLst/>
              <a:rect r="r" b="b" t="t" l="l"/>
              <a:pathLst>
                <a:path h="2269214" w="2309633">
                  <a:moveTo>
                    <a:pt x="0" y="0"/>
                  </a:moveTo>
                  <a:lnTo>
                    <a:pt x="2309633" y="0"/>
                  </a:lnTo>
                  <a:lnTo>
                    <a:pt x="2309633" y="2269214"/>
                  </a:lnTo>
                  <a:lnTo>
                    <a:pt x="0" y="2269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49500" y="6385657"/>
            <a:ext cx="2571750" cy="3234593"/>
            <a:chOff x="0" y="0"/>
            <a:chExt cx="3429000" cy="43127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70206" cy="3270206"/>
            </a:xfrm>
            <a:custGeom>
              <a:avLst/>
              <a:gdLst/>
              <a:ahLst/>
              <a:cxnLst/>
              <a:rect r="r" b="b" t="t" l="l"/>
              <a:pathLst>
                <a:path h="3270206" w="3270206">
                  <a:moveTo>
                    <a:pt x="0" y="0"/>
                  </a:moveTo>
                  <a:lnTo>
                    <a:pt x="3270206" y="0"/>
                  </a:lnTo>
                  <a:lnTo>
                    <a:pt x="3270206" y="3270206"/>
                  </a:lnTo>
                  <a:lnTo>
                    <a:pt x="0" y="3270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19367" y="2043576"/>
              <a:ext cx="2309633" cy="2269214"/>
            </a:xfrm>
            <a:custGeom>
              <a:avLst/>
              <a:gdLst/>
              <a:ahLst/>
              <a:cxnLst/>
              <a:rect r="r" b="b" t="t" l="l"/>
              <a:pathLst>
                <a:path h="2269214" w="2309633">
                  <a:moveTo>
                    <a:pt x="0" y="0"/>
                  </a:moveTo>
                  <a:lnTo>
                    <a:pt x="2309633" y="0"/>
                  </a:lnTo>
                  <a:lnTo>
                    <a:pt x="2309633" y="2269214"/>
                  </a:lnTo>
                  <a:lnTo>
                    <a:pt x="0" y="2269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21426" y="145464"/>
            <a:ext cx="3686051" cy="9996071"/>
          </a:xfrm>
          <a:custGeom>
            <a:avLst/>
            <a:gdLst/>
            <a:ahLst/>
            <a:cxnLst/>
            <a:rect r="r" b="b" t="t" l="l"/>
            <a:pathLst>
              <a:path h="9996071" w="3686051">
                <a:moveTo>
                  <a:pt x="0" y="0"/>
                </a:moveTo>
                <a:lnTo>
                  <a:pt x="3686051" y="0"/>
                </a:lnTo>
                <a:lnTo>
                  <a:pt x="3686051" y="9996072"/>
                </a:lnTo>
                <a:lnTo>
                  <a:pt x="0" y="99960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51175" y="555625"/>
            <a:ext cx="14077950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pc="-160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USECASE DIAGRAM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63126" y="2561499"/>
            <a:ext cx="12670952" cy="4457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b="true" sz="3900" spc="-78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The Use Case Diagram shows h</a:t>
            </a:r>
            <a:r>
              <a:rPr lang="en-US" b="true" sz="3900" spc="-78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ow different actors interact with the system and what functionalities are available to each.</a:t>
            </a:r>
          </a:p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b="true" sz="3900" spc="-78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 It clearly defines:</a:t>
            </a:r>
          </a:p>
          <a:p>
            <a:pPr algn="just" marL="842062" indent="-421031" lvl="1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00" spc="-78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Boundaries of the system</a:t>
            </a:r>
          </a:p>
          <a:p>
            <a:pPr algn="just" marL="842062" indent="-421031" lvl="1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00" spc="-78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Responsibilities of each actor</a:t>
            </a:r>
          </a:p>
          <a:p>
            <a:pPr algn="just" marL="842062" indent="-421031" lvl="1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00" spc="-78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Main features offered to users, admins, and authorities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90687" y="115643"/>
            <a:ext cx="3984577" cy="10055714"/>
          </a:xfrm>
          <a:custGeom>
            <a:avLst/>
            <a:gdLst/>
            <a:ahLst/>
            <a:cxnLst/>
            <a:rect r="r" b="b" t="t" l="l"/>
            <a:pathLst>
              <a:path h="10055714" w="3984577">
                <a:moveTo>
                  <a:pt x="0" y="0"/>
                </a:moveTo>
                <a:lnTo>
                  <a:pt x="3984576" y="0"/>
                </a:lnTo>
                <a:lnTo>
                  <a:pt x="3984576" y="10055714"/>
                </a:lnTo>
                <a:lnTo>
                  <a:pt x="0" y="10055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800100"/>
            <a:ext cx="15516225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pc="-160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WORKFLOW DIAGRAM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9434" y="2362305"/>
            <a:ext cx="13673996" cy="780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17"/>
              </a:lnSpc>
              <a:spcBef>
                <a:spcPct val="0"/>
              </a:spcBef>
            </a:pPr>
            <a:r>
              <a:rPr lang="en-US" b="true" sz="3617" spc="-7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This w</a:t>
            </a:r>
            <a:r>
              <a:rPr lang="en-US" b="true" sz="3617" spc="-7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orkflow represents the complete life-cycle of a grievance in the system:</a:t>
            </a:r>
          </a:p>
          <a:p>
            <a:pPr algn="just" marL="781088" indent="-390544" lvl="1">
              <a:lnSpc>
                <a:spcPts val="3617"/>
              </a:lnSpc>
              <a:spcBef>
                <a:spcPct val="0"/>
              </a:spcBef>
              <a:buAutoNum type="arabicPeriod" startAt="1"/>
            </a:pPr>
            <a:r>
              <a:rPr lang="en-US" b="true" sz="3617" spc="-7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User Login / Signup</a:t>
            </a:r>
          </a:p>
          <a:p>
            <a:pPr algn="just" marL="781088" indent="-390544" lvl="1">
              <a:lnSpc>
                <a:spcPts val="3617"/>
              </a:lnSpc>
              <a:spcBef>
                <a:spcPct val="0"/>
              </a:spcBef>
              <a:buAutoNum type="arabicPeriod" startAt="1"/>
            </a:pPr>
            <a:r>
              <a:rPr lang="en-US" b="true" sz="3617" spc="-7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Submit Grievance → Stored in Database</a:t>
            </a:r>
          </a:p>
          <a:p>
            <a:pPr algn="just" marL="781088" indent="-390544" lvl="1">
              <a:lnSpc>
                <a:spcPts val="3617"/>
              </a:lnSpc>
              <a:spcBef>
                <a:spcPct val="0"/>
              </a:spcBef>
              <a:buAutoNum type="arabicPeriod" startAt="1"/>
            </a:pPr>
            <a:r>
              <a:rPr lang="en-US" b="true" sz="3617" spc="-7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Authority gets notified</a:t>
            </a:r>
          </a:p>
          <a:p>
            <a:pPr algn="just" marL="781088" indent="-390544" lvl="1">
              <a:lnSpc>
                <a:spcPts val="3617"/>
              </a:lnSpc>
              <a:spcBef>
                <a:spcPct val="0"/>
              </a:spcBef>
              <a:buAutoNum type="arabicPeriod" startAt="1"/>
            </a:pPr>
            <a:r>
              <a:rPr lang="en-US" b="true" sz="3617" spc="-7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Authority reviews grievance</a:t>
            </a:r>
          </a:p>
          <a:p>
            <a:pPr algn="just" marL="1562176" indent="-520725" lvl="2">
              <a:lnSpc>
                <a:spcPts val="3617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617" spc="-7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Assigns to Admin</a:t>
            </a:r>
          </a:p>
          <a:p>
            <a:pPr algn="just" marL="1562176" indent="-520725" lvl="2">
              <a:lnSpc>
                <a:spcPts val="3617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617" spc="-7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OR keeps pending</a:t>
            </a:r>
          </a:p>
          <a:p>
            <a:pPr algn="just" marL="781088" indent="-390544" lvl="1">
              <a:lnSpc>
                <a:spcPts val="3617"/>
              </a:lnSpc>
              <a:spcBef>
                <a:spcPct val="0"/>
              </a:spcBef>
              <a:buAutoNum type="arabicPeriod" startAt="1"/>
            </a:pPr>
            <a:r>
              <a:rPr lang="en-US" b="true" sz="3617" spc="-7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Admin receives assignment</a:t>
            </a:r>
          </a:p>
          <a:p>
            <a:pPr algn="just" marL="781088" indent="-390544" lvl="1">
              <a:lnSpc>
                <a:spcPts val="3617"/>
              </a:lnSpc>
              <a:spcBef>
                <a:spcPct val="0"/>
              </a:spcBef>
              <a:buAutoNum type="arabicPeriod" startAt="1"/>
            </a:pPr>
            <a:r>
              <a:rPr lang="en-US" b="true" sz="3617" spc="-7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Admin updates grievance status</a:t>
            </a:r>
          </a:p>
          <a:p>
            <a:pPr algn="just" marL="1562176" indent="-520725" lvl="2">
              <a:lnSpc>
                <a:spcPts val="3617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617" spc="-7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In Progress</a:t>
            </a:r>
          </a:p>
          <a:p>
            <a:pPr algn="just" marL="1562176" indent="-520725" lvl="2">
              <a:lnSpc>
                <a:spcPts val="3617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617" spc="-7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Resolved</a:t>
            </a:r>
          </a:p>
          <a:p>
            <a:pPr algn="just" marL="781088" indent="-390544" lvl="1">
              <a:lnSpc>
                <a:spcPts val="3617"/>
              </a:lnSpc>
              <a:spcBef>
                <a:spcPct val="0"/>
              </a:spcBef>
              <a:buAutoNum type="arabicPeriod" startAt="1"/>
            </a:pPr>
            <a:r>
              <a:rPr lang="en-US" b="true" sz="3617" spc="-7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User is notified &amp; views updated status</a:t>
            </a:r>
          </a:p>
          <a:p>
            <a:pPr algn="just" marL="781088" indent="-390544" lvl="1">
              <a:lnSpc>
                <a:spcPts val="3617"/>
              </a:lnSpc>
              <a:spcBef>
                <a:spcPct val="0"/>
              </a:spcBef>
              <a:buAutoNum type="arabicPeriod" startAt="1"/>
            </a:pPr>
            <a:r>
              <a:rPr lang="en-US" b="true" sz="3617" spc="-7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User submits feedback</a:t>
            </a:r>
          </a:p>
          <a:p>
            <a:pPr algn="just" marL="781088" indent="-390544" lvl="1">
              <a:lnSpc>
                <a:spcPts val="3617"/>
              </a:lnSpc>
              <a:spcBef>
                <a:spcPct val="0"/>
              </a:spcBef>
              <a:buAutoNum type="arabicPeriod" startAt="1"/>
            </a:pPr>
            <a:r>
              <a:rPr lang="en-US" b="true" sz="3617" spc="-7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Authority can also view feedback</a:t>
            </a:r>
          </a:p>
          <a:p>
            <a:pPr algn="just">
              <a:lnSpc>
                <a:spcPts val="3617"/>
              </a:lnSpc>
              <a:spcBef>
                <a:spcPct val="0"/>
              </a:spcBef>
            </a:pPr>
            <a:r>
              <a:rPr lang="en-US" b="true" sz="3617" spc="-72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This diagram ensures clarity on how information flows between user → authority → admin → user.</a:t>
            </a:r>
          </a:p>
          <a:p>
            <a:pPr algn="just">
              <a:lnSpc>
                <a:spcPts val="8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9125" y="7301966"/>
            <a:ext cx="2571750" cy="3234593"/>
            <a:chOff x="0" y="0"/>
            <a:chExt cx="3429000" cy="43127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70206" cy="3270206"/>
            </a:xfrm>
            <a:custGeom>
              <a:avLst/>
              <a:gdLst/>
              <a:ahLst/>
              <a:cxnLst/>
              <a:rect r="r" b="b" t="t" l="l"/>
              <a:pathLst>
                <a:path h="3270206" w="3270206">
                  <a:moveTo>
                    <a:pt x="0" y="0"/>
                  </a:moveTo>
                  <a:lnTo>
                    <a:pt x="3270206" y="0"/>
                  </a:lnTo>
                  <a:lnTo>
                    <a:pt x="3270206" y="3270206"/>
                  </a:lnTo>
                  <a:lnTo>
                    <a:pt x="0" y="3270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19367" y="2043576"/>
              <a:ext cx="2309633" cy="2269214"/>
            </a:xfrm>
            <a:custGeom>
              <a:avLst/>
              <a:gdLst/>
              <a:ahLst/>
              <a:cxnLst/>
              <a:rect r="r" b="b" t="t" l="l"/>
              <a:pathLst>
                <a:path h="2269214" w="2309633">
                  <a:moveTo>
                    <a:pt x="0" y="0"/>
                  </a:moveTo>
                  <a:lnTo>
                    <a:pt x="2309633" y="0"/>
                  </a:lnTo>
                  <a:lnTo>
                    <a:pt x="2309633" y="2269214"/>
                  </a:lnTo>
                  <a:lnTo>
                    <a:pt x="0" y="2269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02236" y="2129591"/>
            <a:ext cx="9636238" cy="5685380"/>
          </a:xfrm>
          <a:custGeom>
            <a:avLst/>
            <a:gdLst/>
            <a:ahLst/>
            <a:cxnLst/>
            <a:rect r="r" b="b" t="t" l="l"/>
            <a:pathLst>
              <a:path h="5685380" w="9636238">
                <a:moveTo>
                  <a:pt x="0" y="0"/>
                </a:moveTo>
                <a:lnTo>
                  <a:pt x="9636238" y="0"/>
                </a:lnTo>
                <a:lnTo>
                  <a:pt x="9636238" y="5685380"/>
                </a:lnTo>
                <a:lnTo>
                  <a:pt x="0" y="56853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800100"/>
            <a:ext cx="15219410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pc="-160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ENTITY-RELATIONSHIP DIAGRAM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05730" y="2167691"/>
            <a:ext cx="7820112" cy="651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  <a:spcBef>
                <a:spcPct val="0"/>
              </a:spcBef>
            </a:pPr>
            <a:r>
              <a:rPr lang="en-US" sz="3000" spc="-60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The ER diagram represents the data m</a:t>
            </a:r>
            <a:r>
              <a:rPr lang="en-US" sz="3000" spc="-60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odel used in the system.</a:t>
            </a:r>
          </a:p>
          <a:p>
            <a:pPr algn="just">
              <a:lnSpc>
                <a:spcPts val="3000"/>
              </a:lnSpc>
              <a:spcBef>
                <a:spcPct val="0"/>
              </a:spcBef>
            </a:pPr>
            <a:r>
              <a:rPr lang="en-US" sz="3000" spc="-60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 It highlights key entities and their relationships.</a:t>
            </a:r>
          </a:p>
          <a:p>
            <a:pPr algn="just">
              <a:lnSpc>
                <a:spcPts val="3000"/>
              </a:lnSpc>
              <a:spcBef>
                <a:spcPct val="0"/>
              </a:spcBef>
            </a:pPr>
            <a:r>
              <a:rPr lang="en-US" sz="3000" spc="-60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Entities</a:t>
            </a:r>
          </a:p>
          <a:p>
            <a:pPr algn="just" marL="647757" indent="-323878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User – Stores user details (Citizen, Authority, Admin)</a:t>
            </a:r>
          </a:p>
          <a:p>
            <a:pPr algn="just" marL="647757" indent="-323878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Grievance – Stores complaint details</a:t>
            </a:r>
          </a:p>
          <a:p>
            <a:pPr algn="just" marL="647757" indent="-323878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Assignment – Stores assignment history</a:t>
            </a:r>
          </a:p>
          <a:p>
            <a:pPr algn="just" marL="647757" indent="-323878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Attachment – Files uploaded with grievances</a:t>
            </a:r>
          </a:p>
          <a:p>
            <a:pPr algn="just" marL="647757" indent="-323878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Feedback – Ratings and comments by users</a:t>
            </a:r>
          </a:p>
          <a:p>
            <a:pPr algn="just" marL="647757" indent="-323878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Notification – System messages</a:t>
            </a:r>
          </a:p>
          <a:p>
            <a:pPr algn="just" marL="647757" indent="-323878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60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Tag – Categorization labels</a:t>
            </a:r>
          </a:p>
          <a:p>
            <a:pPr algn="just">
              <a:lnSpc>
                <a:spcPts val="30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135" y="2146357"/>
            <a:ext cx="9368300" cy="4282361"/>
          </a:xfrm>
          <a:custGeom>
            <a:avLst/>
            <a:gdLst/>
            <a:ahLst/>
            <a:cxnLst/>
            <a:rect r="r" b="b" t="t" l="l"/>
            <a:pathLst>
              <a:path h="4282361" w="9368300">
                <a:moveTo>
                  <a:pt x="0" y="0"/>
                </a:moveTo>
                <a:lnTo>
                  <a:pt x="9368300" y="0"/>
                </a:lnTo>
                <a:lnTo>
                  <a:pt x="9368300" y="4282361"/>
                </a:lnTo>
                <a:lnTo>
                  <a:pt x="0" y="4282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36" r="0" b="-113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91450" y="5346042"/>
            <a:ext cx="9548194" cy="4329850"/>
          </a:xfrm>
          <a:custGeom>
            <a:avLst/>
            <a:gdLst/>
            <a:ahLst/>
            <a:cxnLst/>
            <a:rect r="r" b="b" t="t" l="l"/>
            <a:pathLst>
              <a:path h="4329850" w="9548194">
                <a:moveTo>
                  <a:pt x="0" y="0"/>
                </a:moveTo>
                <a:lnTo>
                  <a:pt x="9548195" y="0"/>
                </a:lnTo>
                <a:lnTo>
                  <a:pt x="9548195" y="4329850"/>
                </a:lnTo>
                <a:lnTo>
                  <a:pt x="0" y="4329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09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800100"/>
            <a:ext cx="15516225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pc="-160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UI/UX - USER LOGIN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46531">
            <a:off x="-1693248" y="7535916"/>
            <a:ext cx="4168669" cy="4168669"/>
          </a:xfrm>
          <a:custGeom>
            <a:avLst/>
            <a:gdLst/>
            <a:ahLst/>
            <a:cxnLst/>
            <a:rect r="r" b="b" t="t" l="l"/>
            <a:pathLst>
              <a:path h="4168669" w="4168669">
                <a:moveTo>
                  <a:pt x="0" y="0"/>
                </a:moveTo>
                <a:lnTo>
                  <a:pt x="4168668" y="0"/>
                </a:lnTo>
                <a:lnTo>
                  <a:pt x="4168668" y="4168668"/>
                </a:lnTo>
                <a:lnTo>
                  <a:pt x="0" y="4168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4081" y="2479023"/>
            <a:ext cx="8379919" cy="3959512"/>
          </a:xfrm>
          <a:custGeom>
            <a:avLst/>
            <a:gdLst/>
            <a:ahLst/>
            <a:cxnLst/>
            <a:rect r="r" b="b" t="t" l="l"/>
            <a:pathLst>
              <a:path h="3959512" w="8379919">
                <a:moveTo>
                  <a:pt x="0" y="0"/>
                </a:moveTo>
                <a:lnTo>
                  <a:pt x="8379919" y="0"/>
                </a:lnTo>
                <a:lnTo>
                  <a:pt x="8379919" y="3959511"/>
                </a:lnTo>
                <a:lnTo>
                  <a:pt x="0" y="39595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52830" y="5610324"/>
            <a:ext cx="8906470" cy="4252839"/>
          </a:xfrm>
          <a:custGeom>
            <a:avLst/>
            <a:gdLst/>
            <a:ahLst/>
            <a:cxnLst/>
            <a:rect r="r" b="b" t="t" l="l"/>
            <a:pathLst>
              <a:path h="4252839" w="8906470">
                <a:moveTo>
                  <a:pt x="0" y="0"/>
                </a:moveTo>
                <a:lnTo>
                  <a:pt x="8906470" y="0"/>
                </a:lnTo>
                <a:lnTo>
                  <a:pt x="8906470" y="4252840"/>
                </a:lnTo>
                <a:lnTo>
                  <a:pt x="0" y="42528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6750" y="800100"/>
            <a:ext cx="15516225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pc="-160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UI/UX-USER DASHBOARD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463" y="2021980"/>
            <a:ext cx="8740906" cy="4097300"/>
          </a:xfrm>
          <a:custGeom>
            <a:avLst/>
            <a:gdLst/>
            <a:ahLst/>
            <a:cxnLst/>
            <a:rect r="r" b="b" t="t" l="l"/>
            <a:pathLst>
              <a:path h="4097300" w="8740906">
                <a:moveTo>
                  <a:pt x="0" y="0"/>
                </a:moveTo>
                <a:lnTo>
                  <a:pt x="8740907" y="0"/>
                </a:lnTo>
                <a:lnTo>
                  <a:pt x="8740907" y="4097300"/>
                </a:lnTo>
                <a:lnTo>
                  <a:pt x="0" y="4097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021980"/>
            <a:ext cx="8810820" cy="4185139"/>
          </a:xfrm>
          <a:custGeom>
            <a:avLst/>
            <a:gdLst/>
            <a:ahLst/>
            <a:cxnLst/>
            <a:rect r="r" b="b" t="t" l="l"/>
            <a:pathLst>
              <a:path h="4185139" w="8810820">
                <a:moveTo>
                  <a:pt x="0" y="0"/>
                </a:moveTo>
                <a:lnTo>
                  <a:pt x="8810820" y="0"/>
                </a:lnTo>
                <a:lnTo>
                  <a:pt x="8810820" y="4185140"/>
                </a:lnTo>
                <a:lnTo>
                  <a:pt x="0" y="4185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27221" y="6349995"/>
            <a:ext cx="7838256" cy="3693778"/>
          </a:xfrm>
          <a:custGeom>
            <a:avLst/>
            <a:gdLst/>
            <a:ahLst/>
            <a:cxnLst/>
            <a:rect r="r" b="b" t="t" l="l"/>
            <a:pathLst>
              <a:path h="3693778" w="7838256">
                <a:moveTo>
                  <a:pt x="0" y="0"/>
                </a:moveTo>
                <a:lnTo>
                  <a:pt x="7838255" y="0"/>
                </a:lnTo>
                <a:lnTo>
                  <a:pt x="7838255" y="3693778"/>
                </a:lnTo>
                <a:lnTo>
                  <a:pt x="0" y="3693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6750" y="800100"/>
            <a:ext cx="16592550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pc="-160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UI/UX-ADMIN LOGIN &amp; DASHBOARD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5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9359" y="455550"/>
            <a:ext cx="6171009" cy="91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  <a:spcBef>
                <a:spcPct val="0"/>
              </a:spcBef>
            </a:pPr>
            <a:r>
              <a:rPr lang="en-US" b="true" sz="6800" spc="-136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TECHNOLOGIES 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9218" y="1861180"/>
            <a:ext cx="12332725" cy="32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01135" indent="-550568" lvl="1">
              <a:lnSpc>
                <a:spcPts val="5100"/>
              </a:lnSpc>
              <a:buAutoNum type="arabicPeriod" startAt="1"/>
            </a:pPr>
            <a:r>
              <a:rPr lang="en-US" sz="5100" spc="-102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UI-html,css,js</a:t>
            </a:r>
          </a:p>
          <a:p>
            <a:pPr algn="l" marL="1101135" indent="-550568" lvl="1">
              <a:lnSpc>
                <a:spcPts val="5100"/>
              </a:lnSpc>
              <a:buAutoNum type="arabicPeriod" startAt="1"/>
            </a:pPr>
            <a:r>
              <a:rPr lang="en-US" sz="5100" spc="-102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Backend-java,springboot</a:t>
            </a:r>
          </a:p>
          <a:p>
            <a:pPr algn="l" marL="1101135" indent="-550568" lvl="1">
              <a:lnSpc>
                <a:spcPts val="5100"/>
              </a:lnSpc>
              <a:buAutoNum type="arabicPeriod" startAt="1"/>
            </a:pPr>
            <a:r>
              <a:rPr lang="en-US" sz="5100" spc="-102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Database-mysql</a:t>
            </a:r>
          </a:p>
          <a:p>
            <a:pPr algn="l" marL="1101135" indent="-550568" lvl="1">
              <a:lnSpc>
                <a:spcPts val="5100"/>
              </a:lnSpc>
              <a:spcBef>
                <a:spcPct val="0"/>
              </a:spcBef>
              <a:buAutoNum type="arabicPeriod" startAt="1"/>
            </a:pPr>
            <a:r>
              <a:rPr lang="en-US" sz="5100" spc="-102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Tools-vscode,liveserver extensions,devtools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5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6087" y="417858"/>
            <a:ext cx="6010383" cy="91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  <a:spcBef>
                <a:spcPct val="0"/>
              </a:spcBef>
            </a:pPr>
            <a:r>
              <a:rPr lang="en-US" b="true" sz="6800" spc="-136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FURTHER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6087" y="2210450"/>
            <a:ext cx="17029680" cy="438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28420" indent="-464210" lvl="1">
              <a:lnSpc>
                <a:spcPts val="4300"/>
              </a:lnSpc>
              <a:buAutoNum type="arabicPeriod" startAt="1"/>
            </a:pPr>
            <a:r>
              <a:rPr lang="en-US" sz="4300" spc="-86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CONNECT FRONTEND TO BACKEND</a:t>
            </a:r>
          </a:p>
          <a:p>
            <a:pPr algn="just" marL="928420" indent="-464210" lvl="1">
              <a:lnSpc>
                <a:spcPts val="4300"/>
              </a:lnSpc>
              <a:buAutoNum type="arabicPeriod" startAt="1"/>
            </a:pPr>
            <a:r>
              <a:rPr lang="en-US" sz="4300" spc="-86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ADD DATABASE</a:t>
            </a:r>
          </a:p>
          <a:p>
            <a:pPr algn="just" marL="928420" indent="-464210" lvl="1">
              <a:lnSpc>
                <a:spcPts val="4300"/>
              </a:lnSpc>
              <a:buAutoNum type="arabicPeriod" startAt="1"/>
            </a:pPr>
            <a:r>
              <a:rPr lang="en-US" sz="4300" spc="-86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IMPLEMENT OTP VALIDATION</a:t>
            </a:r>
          </a:p>
          <a:p>
            <a:pPr algn="just" marL="928420" indent="-464210" lvl="1">
              <a:lnSpc>
                <a:spcPts val="4300"/>
              </a:lnSpc>
              <a:buAutoNum type="arabicPeriod" startAt="1"/>
            </a:pPr>
            <a:r>
              <a:rPr lang="en-US" sz="4300" spc="-86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ADD FILE UPLOAD</a:t>
            </a:r>
          </a:p>
          <a:p>
            <a:pPr algn="just" marL="928420" indent="-464210" lvl="1">
              <a:lnSpc>
                <a:spcPts val="4300"/>
              </a:lnSpc>
              <a:buAutoNum type="arabicPeriod" startAt="1"/>
            </a:pPr>
            <a:r>
              <a:rPr lang="en-US" sz="4300" spc="-86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REAL-TIME NOTIFICATIONS</a:t>
            </a:r>
          </a:p>
          <a:p>
            <a:pPr algn="just" marL="928420" indent="-464210" lvl="1">
              <a:lnSpc>
                <a:spcPts val="4300"/>
              </a:lnSpc>
              <a:buAutoNum type="arabicPeriod" startAt="1"/>
            </a:pPr>
            <a:r>
              <a:rPr lang="en-US" sz="4300" spc="-86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ANALYICS DASHBOARD FOR ADMINISTRATORS</a:t>
            </a:r>
          </a:p>
          <a:p>
            <a:pPr algn="just" marL="928420" indent="-464210" lvl="1">
              <a:lnSpc>
                <a:spcPts val="4300"/>
              </a:lnSpc>
              <a:buAutoNum type="arabicPeriod" startAt="1"/>
            </a:pPr>
            <a:r>
              <a:rPr lang="en-US" sz="4300" spc="-86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IMPROVE SECURITY</a:t>
            </a:r>
          </a:p>
          <a:p>
            <a:pPr algn="just" marL="928420" indent="-464210" lvl="1">
              <a:lnSpc>
                <a:spcPts val="4300"/>
              </a:lnSpc>
              <a:spcBef>
                <a:spcPct val="0"/>
              </a:spcBef>
              <a:buAutoNum type="arabicPeriod" startAt="1"/>
            </a:pPr>
            <a:r>
              <a:rPr lang="en-US" sz="4300" spc="-86">
                <a:solidFill>
                  <a:srgbClr val="FFFFFF"/>
                </a:solidFill>
                <a:latin typeface="Farro"/>
                <a:ea typeface="Farro"/>
                <a:cs typeface="Farro"/>
                <a:sym typeface="Farro"/>
              </a:rPr>
              <a:t>Mobile app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48325" y="3636204"/>
            <a:ext cx="12639675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pc="-160">
                <a:solidFill>
                  <a:srgbClr val="F2F5F7"/>
                </a:solidFill>
                <a:latin typeface="Farro Bold"/>
                <a:ea typeface="Farro Bold"/>
                <a:cs typeface="Farro Bold"/>
                <a:sym typeface="Farro Bold"/>
              </a:rPr>
              <a:t>THANK YOUU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1487395" y="5240245"/>
            <a:ext cx="3559361" cy="4476750"/>
            <a:chOff x="0" y="0"/>
            <a:chExt cx="4745814" cy="5969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26040" cy="4526040"/>
            </a:xfrm>
            <a:custGeom>
              <a:avLst/>
              <a:gdLst/>
              <a:ahLst/>
              <a:cxnLst/>
              <a:rect r="r" b="b" t="t" l="l"/>
              <a:pathLst>
                <a:path h="4526040" w="4526040">
                  <a:moveTo>
                    <a:pt x="0" y="0"/>
                  </a:moveTo>
                  <a:lnTo>
                    <a:pt x="4526040" y="0"/>
                  </a:lnTo>
                  <a:lnTo>
                    <a:pt x="4526040" y="4526040"/>
                  </a:lnTo>
                  <a:lnTo>
                    <a:pt x="0" y="4526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549230" y="2828356"/>
              <a:ext cx="3196584" cy="3140644"/>
            </a:xfrm>
            <a:custGeom>
              <a:avLst/>
              <a:gdLst/>
              <a:ahLst/>
              <a:cxnLst/>
              <a:rect r="r" b="b" t="t" l="l"/>
              <a:pathLst>
                <a:path h="3140644" w="3196584">
                  <a:moveTo>
                    <a:pt x="0" y="0"/>
                  </a:moveTo>
                  <a:lnTo>
                    <a:pt x="3196584" y="0"/>
                  </a:lnTo>
                  <a:lnTo>
                    <a:pt x="3196584" y="3140644"/>
                  </a:lnTo>
                  <a:lnTo>
                    <a:pt x="0" y="3140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DAG59xhTXBs</dc:identifier>
  <dcterms:modified xsi:type="dcterms:W3CDTF">2011-08-01T06:04:30Z</dcterms:modified>
  <cp:revision>1</cp:revision>
  <dc:title>RESOLVE IT-smart grievance and feedback management system</dc:title>
</cp:coreProperties>
</file>